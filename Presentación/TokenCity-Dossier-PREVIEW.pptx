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90872" y="1417320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90872" y="141732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 JULIO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 CITY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Agile, Secure &amp; Liquid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90872" y="4297680"/>
            <a:ext cx="281635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4348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DOSSIER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70916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690872" y="5532120"/>
            <a:ext cx="281635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valor tienen los tokens?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 de lo que representen. Típicamente los RWAs ofrecen participación en un negocio, interés sobre una deuda, participación en la rentabilidad u otros productos más complejos.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84778" cy="1737360"/>
          </a:xfrm>
          <a:prstGeom prst="roundRect">
            <a:avLst>
              <a:gd name="adj" fmla="val 4737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32304"/>
            <a:ext cx="64008" cy="1444752"/>
          </a:xfrm>
          <a:prstGeom prst="roundRect">
            <a:avLst>
              <a:gd name="adj" fmla="val 28571"/>
            </a:avLst>
          </a:prstGeom>
          <a:solidFill>
            <a:srgbClr val="B5474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505456"/>
            <a:ext cx="420624" cy="420624"/>
          </a:xfrm>
          <a:prstGeom prst="ellipse">
            <a:avLst/>
          </a:prstGeom>
          <a:solidFill>
            <a:srgbClr val="B5474D">
              <a:alpha val="22000"/>
            </a:srgbClr>
          </a:solidFill>
          <a:ln w="15875">
            <a:solidFill>
              <a:srgbClr val="B5474D"/>
            </a:solidFill>
            <a:prstDash val="solid"/>
          </a:ln>
        </p:spPr>
      </p:sp>
      <p:pic>
        <p:nvPicPr>
          <p:cNvPr id="8" name="Image 0" descr="/Users/abelmacmini/Documents/HTMLs/TC-TokenCity-Web/Presentación/pptx-export/generated/icon-users-B547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564892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035808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Acciones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401568"/>
            <a:ext cx="295442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Participación en el capital del negocio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53458" y="2286000"/>
            <a:ext cx="3484778" cy="1737360"/>
          </a:xfrm>
          <a:prstGeom prst="roundRect">
            <a:avLst>
              <a:gd name="adj" fmla="val 4737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3458" y="2432304"/>
            <a:ext cx="64008" cy="1444752"/>
          </a:xfrm>
          <a:prstGeom prst="roundRect">
            <a:avLst>
              <a:gd name="adj" fmla="val 28571"/>
            </a:avLst>
          </a:prstGeom>
          <a:solidFill>
            <a:srgbClr val="7A5AA8"/>
          </a:solidFill>
          <a:ln/>
        </p:spPr>
      </p:sp>
      <p:sp>
        <p:nvSpPr>
          <p:cNvPr id="13" name="Shape 10"/>
          <p:cNvSpPr/>
          <p:nvPr/>
        </p:nvSpPr>
        <p:spPr>
          <a:xfrm>
            <a:off x="4627778" y="2505456"/>
            <a:ext cx="420624" cy="420624"/>
          </a:xfrm>
          <a:prstGeom prst="ellipse">
            <a:avLst/>
          </a:prstGeom>
          <a:solidFill>
            <a:srgbClr val="7A5AA8">
              <a:alpha val="22000"/>
            </a:srgbClr>
          </a:solidFill>
          <a:ln w="15875">
            <a:solidFill>
              <a:srgbClr val="7A5AA8"/>
            </a:solidFill>
            <a:prstDash val="solid"/>
          </a:ln>
        </p:spPr>
      </p:sp>
      <p:pic>
        <p:nvPicPr>
          <p:cNvPr id="14" name="Image 1" descr="/Users/abelmacmini/Documents/HTMLs/TC-TokenCity-Web/Presentación/pptx-export/generated/icon-check-check-7A5A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214" y="256489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27778" y="3035808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Deuda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27778" y="3401568"/>
            <a:ext cx="295442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Interés sobre un préstamo o bono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58277" y="2286000"/>
            <a:ext cx="3484778" cy="1737360"/>
          </a:xfrm>
          <a:prstGeom prst="roundRect">
            <a:avLst>
              <a:gd name="adj" fmla="val 4737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58277" y="2432304"/>
            <a:ext cx="64008" cy="1444752"/>
          </a:xfrm>
          <a:prstGeom prst="roundRect">
            <a:avLst>
              <a:gd name="adj" fmla="val 28571"/>
            </a:avLst>
          </a:prstGeom>
          <a:solidFill>
            <a:srgbClr val="9A8F3A"/>
          </a:solidFill>
          <a:ln/>
        </p:spPr>
      </p:sp>
      <p:sp>
        <p:nvSpPr>
          <p:cNvPr id="19" name="Shape 15"/>
          <p:cNvSpPr/>
          <p:nvPr/>
        </p:nvSpPr>
        <p:spPr>
          <a:xfrm>
            <a:off x="8432597" y="2505456"/>
            <a:ext cx="420624" cy="420624"/>
          </a:xfrm>
          <a:prstGeom prst="ellipse">
            <a:avLst/>
          </a:prstGeom>
          <a:solidFill>
            <a:srgbClr val="9A8F3A">
              <a:alpha val="22000"/>
            </a:srgbClr>
          </a:solidFill>
          <a:ln w="15875">
            <a:solidFill>
              <a:srgbClr val="9A8F3A"/>
            </a:solidFill>
            <a:prstDash val="solid"/>
          </a:ln>
        </p:spPr>
      </p:sp>
      <p:pic>
        <p:nvPicPr>
          <p:cNvPr id="20" name="Image 2" descr="/Users/abelmacmini/Documents/HTMLs/TC-TokenCity-Web/Presentación/pptx-export/generated/icon-bar-chart-3-9A8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033" y="2564892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2597" y="3035808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Ganancias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32597" y="3401568"/>
            <a:ext cx="295442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Participación en la rentabilidad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434340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4489704"/>
            <a:ext cx="64008" cy="758952"/>
          </a:xfrm>
          <a:prstGeom prst="roundRect">
            <a:avLst>
              <a:gd name="adj" fmla="val 28571"/>
            </a:avLst>
          </a:prstGeom>
          <a:solidFill>
            <a:srgbClr val="4D8DFF"/>
          </a:solidFill>
          <a:ln/>
        </p:spPr>
      </p:sp>
      <p:sp>
        <p:nvSpPr>
          <p:cNvPr id="25" name="Shape 20"/>
          <p:cNvSpPr/>
          <p:nvPr/>
        </p:nvSpPr>
        <p:spPr>
          <a:xfrm>
            <a:off x="822960" y="4613148"/>
            <a:ext cx="512064" cy="512064"/>
          </a:xfrm>
          <a:prstGeom prst="ellipse">
            <a:avLst/>
          </a:prstGeom>
          <a:solidFill>
            <a:srgbClr val="4D8DFF">
              <a:alpha val="22000"/>
            </a:srgbClr>
          </a:solidFill>
          <a:ln w="15875">
            <a:solidFill>
              <a:srgbClr val="4D8DFF"/>
            </a:solidFill>
            <a:prstDash val="solid"/>
          </a:ln>
        </p:spPr>
      </p:sp>
      <p:pic>
        <p:nvPicPr>
          <p:cNvPr id="26" name="Image 3" descr="/Users/abelmacmini/Documents/HTMLs/TC-TokenCity-Web/Presentación/pptx-export/generated/icon-layers-4D8D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672584"/>
            <a:ext cx="393192" cy="3931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91056" y="4343400"/>
            <a:ext cx="977767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Otros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 financieros más complejos, combinación de los anteriores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Tarifas — Infraestructura tecnológica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754880"/>
        </p:xfrm>
        <a:graphic>
          <a:graphicData uri="http://schemas.openxmlformats.org/drawingml/2006/table">
            <a:tbl>
              <a:tblPr/>
              <a:tblGrid>
                <a:gridCol w="5760720"/>
                <a:gridCol w="2834640"/>
                <a:gridCol w="2468880"/>
              </a:tblGrid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Servicios tecnológicos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Fijo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 anual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SetUp plataforma personalizada — Marca Blanca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AA3B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Desde 5.000€ (+10.000€ multi-emisión, +5.000€ web, +5.000€ API)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Desarrollo de Smart Contracts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9AA3B2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5.000€ por tipo de activo, despliegues ilimitados</a:t>
                      </a:r>
                      <a:endParaRPr lang="en-US" sz="9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Servicio de vehiculización y mantenimiento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0,1 – 0,3% del volumen (mín. 6.000€/año)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Gestión de Wallets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1,2€ – 3€ / wallet / año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KYC / KYB / AML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3€ (física) · 25€ (jurídica)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0,2€/pax (monitorización anual)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Gestión automatizada de pagos a inversores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0,2% del importe transaccionado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Cadena de valor completa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2206" cy="685800"/>
          </a:xfrm>
          <a:prstGeom prst="roundRect">
            <a:avLst>
              <a:gd name="adj" fmla="val 13333"/>
            </a:avLst>
          </a:prstGeom>
          <a:solidFill>
            <a:srgbClr val="1F3A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91932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inversores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(Ecosistema del cliente Emisor)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006" y="1554480"/>
            <a:ext cx="8962034" cy="685800"/>
          </a:xfrm>
          <a:prstGeom prst="roundRect">
            <a:avLst>
              <a:gd name="adj" fmla="val 13333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9446" y="1554480"/>
            <a:ext cx="87791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inversores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(Ecosistema de Token City)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102206" cy="2651760"/>
          </a:xfrm>
          <a:prstGeom prst="roundRect">
            <a:avLst>
              <a:gd name="adj" fmla="val 4350"/>
            </a:avLst>
          </a:prstGeom>
          <a:solidFill>
            <a:srgbClr val="1F3A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191932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Emisor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006" y="2468880"/>
            <a:ext cx="2895905" cy="1417320"/>
          </a:xfrm>
          <a:prstGeom prst="roundRect">
            <a:avLst>
              <a:gd name="adj" fmla="val 6452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9446" y="2468880"/>
            <a:ext cx="271302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de tokenización y emisión primaria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(Personalizada con la marca del Emisor)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21070" y="2468880"/>
            <a:ext cx="2895905" cy="1417320"/>
          </a:xfrm>
          <a:prstGeom prst="roundRect">
            <a:avLst>
              <a:gd name="adj" fmla="val 6452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12510" y="2468880"/>
            <a:ext cx="271302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de tokenización y emisión primaria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(Plataforma regulada de Token City)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54135" y="2468880"/>
            <a:ext cx="2895905" cy="2651760"/>
          </a:xfrm>
          <a:prstGeom prst="roundRect">
            <a:avLst>
              <a:gd name="adj" fmla="val 3448"/>
            </a:avLst>
          </a:prstGeom>
          <a:solidFill>
            <a:srgbClr val="241B3D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945575" y="2468880"/>
            <a:ext cx="2713025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secundario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(Plataforma regulada de Token City)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006" y="4114800"/>
            <a:ext cx="5928970" cy="1005840"/>
          </a:xfrm>
          <a:prstGeom prst="roundRect">
            <a:avLst>
              <a:gd name="adj" fmla="val 9091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9446" y="4114800"/>
            <a:ext cx="574609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ERIR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(Plataforma regulada de Token City)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9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 BLOCKCHAIN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99743" y="2240280"/>
            <a:ext cx="9144" cy="22860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023" y="2240280"/>
            <a:ext cx="9144" cy="22860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0846" y="317754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3910" y="317754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16975" y="317754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0846" y="461772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16975" y="461772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910" y="5120640"/>
            <a:ext cx="9144" cy="22860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2026-07-27T09:53:44Z</dcterms:created>
  <dcterms:modified xsi:type="dcterms:W3CDTF">2026-07-27T09:53:44Z</dcterms:modified>
</cp:coreProperties>
</file>