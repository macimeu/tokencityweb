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2.png"/><Relationship Id="rId10" Type="http://schemas.openxmlformats.org/officeDocument/2006/relationships/image" Target="../media/image-2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jp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0872" y="1417320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90872" y="141732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 JULIO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TOKEN CITY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B2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Agile, Secure &amp; Liquid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90872" y="4297680"/>
            <a:ext cx="281635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4348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DOSSIER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GENERAL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690872" y="5532120"/>
            <a:ext cx="281635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1323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77266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6" name="Image 0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813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640080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¿Qué es la tokenización?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05576" y="640080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05576" y="71323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6744" y="77266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1" name="Image 1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892" y="8138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82232" y="640080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¿Qué son los Real World Assets (RWAs)?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1453896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1527048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1586484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6" name="Image 2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1627632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1453896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¿Qué valor tienen los tokens?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05576" y="1453896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05576" y="1527048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6744" y="1586484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21" name="Image 3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892" y="1627632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2232" y="1453896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¿Cómo es el proceso de tokenización?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2267712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2340864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2400300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26" name="Image 4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" y="2441448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25296" y="2267712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¿Por qué tokenizar tus activos?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05576" y="2267712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05576" y="2340864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6744" y="2400300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31" name="Image 5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7892" y="2441448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82232" y="2267712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¿Por qué con Token City?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48640" y="3081528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48640" y="3154680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3214116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36" name="Image 6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3255264"/>
            <a:ext cx="246888" cy="2468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25296" y="3081528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¿Qué ofrece Token City?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205576" y="3081528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205576" y="3154680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40" name="Shape 31"/>
          <p:cNvSpPr/>
          <p:nvPr/>
        </p:nvSpPr>
        <p:spPr>
          <a:xfrm>
            <a:off x="6406744" y="3214116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41" name="Image 7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7892" y="3255264"/>
            <a:ext cx="246888" cy="2468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82232" y="3081528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Tarifas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548640" y="3895344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48640" y="3968496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45" name="Shape 35"/>
          <p:cNvSpPr/>
          <p:nvPr/>
        </p:nvSpPr>
        <p:spPr>
          <a:xfrm>
            <a:off x="749808" y="4027932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46" name="Image 8" descr="/Users/abelmacmini/Documents/HTMLs/TC-TokenCity-Web/Presentación/pptx-export/generated/icon-arrow-right-4D8D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" y="4069080"/>
            <a:ext cx="246888" cy="2468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225296" y="3895344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Ejemplos de clientes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Índice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¿Qué es la tokenización?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una forma de representar digitalmente ACTIVOS económicos (patrimonio, derechos económicos, etc.) en pequeñas unidades llamadas TOKENS, con pleno reconocimiento jurídico, que se pueden comprar y vender de forma directa y global.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39572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file-signature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44602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Activo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tradicional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19930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9930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7674" y="239572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14" name="Image 1" descr="/Users/abelmacmini/Documents/HTMLs/TC-TokenCity-Web/Presentación/pptx-export/generated/icon-coins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66" y="244602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7674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Token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7674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digital en Blockchain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91221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1221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8965" y="239572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20" name="Image 2" descr="/Users/abelmacmini/Documents/HTMLs/TC-TokenCity-Web/Presentación/pptx-export/generated/icon-wallet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257" y="244602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8965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Wallet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28965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Cartera de los inversores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¿Qué son los Real World Assets (RWAs)?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activos tradicionales tokenizados —como inmobiliario o energía— se agrupan bajo el término RWA. Dentro de esta categoría están los instrumentos financieros tokenizados (Security Tokens), diferenciados de los demás "criptoactivos".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World Assets (RWAs)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Instrumentos financieros(Security Tokens)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 de Valores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Otros RWAs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Criptos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Otros criptoactivos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¿Qué valor tienen los tokens?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 de lo que representen. Típicamente los RWAs ofrecen participación en un negocio, interés sobre una deuda, participación en la rentabilidad u otros productos más complejos.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B5474D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395728"/>
            <a:ext cx="384048" cy="384048"/>
          </a:xfrm>
          <a:prstGeom prst="ellipse">
            <a:avLst/>
          </a:prstGeom>
          <a:solidFill>
            <a:srgbClr val="B5474D">
              <a:alpha val="22000"/>
            </a:srgbClr>
          </a:solidFill>
          <a:ln w="13970">
            <a:solidFill>
              <a:srgbClr val="B5474D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users-B547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446020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Acciones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en el capital del negocio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19930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19930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7A5A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7674" y="2395728"/>
            <a:ext cx="384048" cy="384048"/>
          </a:xfrm>
          <a:prstGeom prst="ellipse">
            <a:avLst/>
          </a:prstGeom>
          <a:solidFill>
            <a:srgbClr val="7A5AA8">
              <a:alpha val="22000"/>
            </a:srgbClr>
          </a:solidFill>
          <a:ln w="13970">
            <a:solidFill>
              <a:srgbClr val="7A5AA8"/>
            </a:solidFill>
            <a:prstDash val="solid"/>
          </a:ln>
        </p:spPr>
      </p:sp>
      <p:pic>
        <p:nvPicPr>
          <p:cNvPr id="14" name="Image 1" descr="/Users/abelmacmini/Documents/HTMLs/TC-TokenCity-Web/Presentación/pptx-export/generated/icon-check-check-7A5A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66" y="244602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7674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Deuda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57674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Interés sobre un préstamo o bono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91221" y="219456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1221" y="226771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9A8F3A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8965" y="2395728"/>
            <a:ext cx="384048" cy="384048"/>
          </a:xfrm>
          <a:prstGeom prst="ellipse">
            <a:avLst/>
          </a:prstGeom>
          <a:solidFill>
            <a:srgbClr val="9A8F3A">
              <a:alpha val="22000"/>
            </a:srgbClr>
          </a:solidFill>
          <a:ln w="13970">
            <a:solidFill>
              <a:srgbClr val="9A8F3A"/>
            </a:solidFill>
            <a:prstDash val="solid"/>
          </a:ln>
        </p:spPr>
      </p:sp>
      <p:pic>
        <p:nvPicPr>
          <p:cNvPr id="20" name="Image 2" descr="/Users/abelmacmini/Documents/HTMLs/TC-TokenCity-Web/Presentación/pptx-export/generated/icon-bar-chart-3-9A8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257" y="244602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8965" y="287121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Ganancias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328965" y="323697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Participación en la rentabilidad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3968496"/>
            <a:ext cx="11094415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4041648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5" name="Shape 20"/>
          <p:cNvSpPr/>
          <p:nvPr/>
        </p:nvSpPr>
        <p:spPr>
          <a:xfrm>
            <a:off x="786384" y="4169664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26" name="Image 3" descr="/Users/abelmacmini/Documents/HTMLs/TC-TokenCity-Web/Presentación/pptx-export/generated/icon-layers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219956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86384" y="4645152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Otros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86384" y="5010912"/>
            <a:ext cx="106372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 financieros más complejos, combinación de los anteriores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2609012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1323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84124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6" name="Image 0" descr="/Users/abelmacmini/Documents/HTMLs/TC-TokenCity-Web/Presentación/pptx-export/generated/icon-lightbulb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89154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1316736"/>
            <a:ext cx="2151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Fase Previa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6384" y="1682496"/>
            <a:ext cx="215181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Estructuración de la emisión — Se define el modelo de negocio, el tipo de activo a tokenizar y la viabilidad jurídica y financiera.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77108" y="640080"/>
            <a:ext cx="2609012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77108" y="71323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1" name="Shape 8"/>
          <p:cNvSpPr/>
          <p:nvPr/>
        </p:nvSpPr>
        <p:spPr>
          <a:xfrm>
            <a:off x="3614852" y="84124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12" name="Image 1" descr="/Users/abelmacmini/Documents/HTMLs/TC-TokenCity-Web/Presentación/pptx-export/generated/icon-file-text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144" y="89154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4852" y="1316736"/>
            <a:ext cx="2151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Validación del Documento de Emisión o Folleto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14852" y="1682496"/>
            <a:ext cx="215181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elabora el documento con las características del instrumento. Según volumen y perfil inversor, se valida por una ESI o CNMV.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05576" y="640080"/>
            <a:ext cx="2609012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05576" y="71323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3320" y="84124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18" name="Image 2" descr="/Users/abelmacmini/Documents/HTMLs/TC-TokenCity-Web/Presentación/pptx-export/generated/icon-cloud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12" y="89154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3320" y="1316736"/>
            <a:ext cx="2151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Infraestructura de tokenización y emisión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43320" y="1682496"/>
            <a:ext cx="215181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selecciona la infraestructura tecnológica de soporte (plataforma propia, Token City Exchange, Alius Capital, otras).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9034043" y="640080"/>
            <a:ext cx="2609012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34043" y="71323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3" name="Shape 18"/>
          <p:cNvSpPr/>
          <p:nvPr/>
        </p:nvSpPr>
        <p:spPr>
          <a:xfrm>
            <a:off x="9271787" y="84124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24" name="Image 3" descr="/Users/abelmacmini/Documents/HTMLs/TC-TokenCity-Web/Presentación/pptx-export/generated/icon-link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079" y="891540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1787" y="1316736"/>
            <a:ext cx="2151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ERIR (Inscripción y Registro)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271787" y="1682496"/>
            <a:ext cx="2151812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designa la ERIR encargada de la inscripción y registro de los activos tokenizados.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48640" y="2414016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8640" y="2487168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9" name="Shape 23"/>
          <p:cNvSpPr/>
          <p:nvPr/>
        </p:nvSpPr>
        <p:spPr>
          <a:xfrm>
            <a:off x="786384" y="2615184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30" name="Image 4" descr="/Users/abelmacmini/Documents/HTMLs/TC-TokenCity-Web/Presentación/pptx-export/generated/icon-stamp-4D8D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2665476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86384" y="3090672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Formalización mercantil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86384" y="3456432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Cuando la Ley lo exige, se formaliza la emisión ante notario y se procede a su registro público.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319930" y="2414016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319930" y="2487168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35" name="Shape 28"/>
          <p:cNvSpPr/>
          <p:nvPr/>
        </p:nvSpPr>
        <p:spPr>
          <a:xfrm>
            <a:off x="4557674" y="2615184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36" name="Image 5" descr="/Users/abelmacmini/Documents/HTMLs/TC-TokenCity-Web/Presentación/pptx-export/generated/icon-landmark-4D8D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966" y="2665476"/>
            <a:ext cx="283464" cy="28346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557674" y="3090672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Inscripción ERIR en CNMV y solicitud de ISIN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557674" y="3456432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tramita la inscripción de la ERIR en CNMV. Posteriormente, se puede solicitar el ISIN.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8091221" y="2414016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091221" y="2487168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41" name="Shape 33"/>
          <p:cNvSpPr/>
          <p:nvPr/>
        </p:nvSpPr>
        <p:spPr>
          <a:xfrm>
            <a:off x="8328965" y="2615184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42" name="Image 6" descr="/Users/abelmacmini/Documents/HTMLs/TC-TokenCity-Web/Presentación/pptx-export/generated/icon-rocket-4D8D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9257" y="2665476"/>
            <a:ext cx="283464" cy="28346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328965" y="3090672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Colocación primaria y negociación secundaria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8328965" y="3456432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colocan los tokens entre los inversores suscriptores y, en su caso, se habilita la compra-venta secundaria.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548640" y="41879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¿Cómo es el proceso de tokenización?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¿Por qué tokenizar tus activos?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9047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61848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7" name="Image 0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6687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209397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Canal alternativo de financiación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45973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Cualquiera con conexión a internet puede invertir en tus proyectos.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19930" y="141732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9930" y="149047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57674" y="161848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13" name="Image 1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66" y="166878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57674" y="209397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Flexible, directo y global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57674" y="245973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Tú defines las condiciones. El alcance es directo y global.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91221" y="141732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1221" y="1490472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8" name="Shape 14"/>
          <p:cNvSpPr/>
          <p:nvPr/>
        </p:nvSpPr>
        <p:spPr>
          <a:xfrm>
            <a:off x="8328965" y="1618488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19" name="Image 2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257" y="166878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8965" y="2093976"/>
            <a:ext cx="309463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 puede vender más fácil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328965" y="2459736"/>
            <a:ext cx="309463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Negociando tus activos en mercados privados o regulados.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191256"/>
            <a:ext cx="11094415" cy="1554480"/>
          </a:xfrm>
          <a:prstGeom prst="roundRect">
            <a:avLst>
              <a:gd name="adj" fmla="val 5294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264408"/>
            <a:ext cx="54864" cy="140817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4" name="Shape 19"/>
          <p:cNvSpPr/>
          <p:nvPr/>
        </p:nvSpPr>
        <p:spPr>
          <a:xfrm>
            <a:off x="786384" y="3392424"/>
            <a:ext cx="384048" cy="384048"/>
          </a:xfrm>
          <a:prstGeom prst="ellipse">
            <a:avLst/>
          </a:prstGeom>
          <a:solidFill>
            <a:srgbClr val="4D8DFF">
              <a:alpha val="22000"/>
            </a:srgbClr>
          </a:solidFill>
          <a:ln w="13970">
            <a:solidFill>
              <a:srgbClr val="4D8DFF"/>
            </a:solidFill>
            <a:prstDash val="solid"/>
          </a:ln>
        </p:spPr>
      </p:sp>
      <p:pic>
        <p:nvPicPr>
          <p:cNvPr id="25" name="Image 3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442716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6384" y="3867912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Eficiencia y transparencia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86384" y="4233672"/>
            <a:ext cx="10637215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Ahorras tiempo y costes con procesos automatizados.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¿Por qué con Token City?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Institución financiera regulada en la 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0136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Token City Exchange Agencia de Valores S.A., autorizada por la CNMV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2130552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Bolsa de Valores tokenizados regulada a nivel europeo (4T 2026)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459736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la vanguardia en tokenización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43784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1ª plataforma regulada de venta de activos tokenizados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1ª solución de registro nativo en blockchain (ERIR)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502152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1er bono tokenizado plenamente regulado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3831336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1ª emisión de acciones tokenizadas con reconocimiento jurídico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1er bono hipotecario tokenizado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1ª sociedad inmobiliaria tokenizada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81888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• Clientes en 5 países en Europa y Latinoamérica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¿Qué ofrece Token City?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 "end-to-end": asesoramiento, cobertura regulatoria, infraestructura tecnológica y mercados para emitir, distribuir y negociar activos tokenizados.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Asesoría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Cobertura regulatoria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Infraestructura tecnológica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Asesoría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City ha adquirido un amplio know-how en tokenización de activos, en casos de uso, industrias y países diversos. Por ello, puede prestar apoyo para: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682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Estructurar las tokenizaciones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93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993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109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3" name="Image 1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46" y="23682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9658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Cumplir requisitos regulatorios y mercantiles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1221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1221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2389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8" name="Image 2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537" y="23682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7877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Diseñar la estrategia de distribución y compra-venta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Cobertura regulatoria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City posee las licencias para prestar los servicios regulados necesarios para la emisión y gestión de activos tokenizados: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682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Validación del Documento de Emisión o Registro de Folleto ante CNMV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93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993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109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3" name="Image 1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46" y="23682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9658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Servicio de E.R.I.R. para el registro de activos tokenizados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1221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1221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2389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8" name="Image 2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537" y="23682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7877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Colocación de instrumentos financieros a través de Agencia de Valores o Crowdfunding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008376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081528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3140964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23" name="Image 3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3182112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5296" y="3008376"/>
            <a:ext cx="10271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Recepción y transmisión de órdenes (RTO) por cuenta de clientes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Infraestructura tecnológica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Soluciones tecnológicas robustas para empresas e instituciones financieras: tokenización, registro y compra-venta de instrumentos financieros tokenizados.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682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Desarrollo de Smart Contracts y gestión de Wallets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93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993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109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3" name="Image 1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46" y="23682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9658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Infraestructura para mercado privado en marca blanca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1221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1221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2389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8" name="Image 2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537" y="23682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7877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Solución de ERIR para inscripción y registro de tokens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008376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081528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3140964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23" name="Image 3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3182112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5296" y="3008376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Integración con canales de venta y negociación regulados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05576" y="3008376"/>
            <a:ext cx="5437480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205576" y="3081528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27" name="Shape 21"/>
          <p:cNvSpPr/>
          <p:nvPr/>
        </p:nvSpPr>
        <p:spPr>
          <a:xfrm>
            <a:off x="6406744" y="3140964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28" name="Image 4" descr="/Users/abelmacmini/Documents/HTMLs/TC-TokenCity-Web/Presentación/pptx-export/generated/icon-check-circle-2-4D8D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892" y="3182112"/>
            <a:ext cx="246888" cy="2468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82232" y="3008376"/>
            <a:ext cx="461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Infraestructura tecnológica a través de API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Mercados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City facilita la distribución y negociación de instrumentos financieros tokenizados a través de sus infraestructuras reguladas, así como a través de terceros.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8" name="Image 0" descr="/Users/abelmacmini/Documents/HTMLs/TC-TokenCity-Web/Presentación/pptx-export/generated/icon-landmark-4D8D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236829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Token City European Exchange AV, Agencia de Valores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930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9930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21098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3" name="Image 1" descr="/Users/abelmacmini/Documents/HTMLs/TC-TokenCity-Web/Presentación/pptx-export/generated/icon-handshake-4D8D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246" y="23682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96586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Alius Capital Crowdfunding tokenizado, emisiones &lt; 5M€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91221" y="2194560"/>
            <a:ext cx="3551834" cy="594360"/>
          </a:xfrm>
          <a:prstGeom prst="roundRect">
            <a:avLst>
              <a:gd name="adj" fmla="val 13846"/>
            </a:avLst>
          </a:prstGeom>
          <a:solidFill>
            <a:srgbClr val="12161F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91221" y="2267712"/>
            <a:ext cx="54864" cy="448056"/>
          </a:xfrm>
          <a:prstGeom prst="roundRect">
            <a:avLst>
              <a:gd name="adj" fmla="val 33333"/>
            </a:avLst>
          </a:prstGeom>
          <a:solidFill>
            <a:srgbClr val="4D8D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2389" y="2327148"/>
            <a:ext cx="329184" cy="329184"/>
          </a:xfrm>
          <a:prstGeom prst="ellipse">
            <a:avLst/>
          </a:prstGeom>
          <a:solidFill>
            <a:srgbClr val="4D8DFF">
              <a:alpha val="22000"/>
            </a:srgbClr>
          </a:solidFill>
          <a:ln w="12700">
            <a:solidFill>
              <a:srgbClr val="4D8DFF"/>
            </a:solidFill>
            <a:prstDash val="solid"/>
          </a:ln>
        </p:spPr>
      </p:sp>
      <p:pic>
        <p:nvPicPr>
          <p:cNvPr id="18" name="Image 2" descr="/Users/abelmacmini/Documents/HTMLs/TC-TokenCity-Web/Presentación/pptx-export/generated/icon-network-4D8D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537" y="23682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67877" y="2194560"/>
            <a:ext cx="272887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Terceros distribuidores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Cadena de valor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02206" cy="685800"/>
          </a:xfrm>
          <a:prstGeom prst="roundRect">
            <a:avLst>
              <a:gd name="adj" fmla="val 13333"/>
            </a:avLst>
          </a:prstGeom>
          <a:solidFill>
            <a:srgbClr val="1F3A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91932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Clientes inversores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(Ecosistema del cliente Emisor)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006" y="1554480"/>
            <a:ext cx="8962034" cy="68580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9446" y="1554480"/>
            <a:ext cx="87791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Clientes inversores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(Ecosistema de Token City)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102206" cy="2651760"/>
          </a:xfrm>
          <a:prstGeom prst="roundRect">
            <a:avLst>
              <a:gd name="adj" fmla="val 4350"/>
            </a:avLst>
          </a:prstGeom>
          <a:solidFill>
            <a:srgbClr val="1F3A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1919326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Cliente Emisor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006" y="2468880"/>
            <a:ext cx="2895905" cy="1417320"/>
          </a:xfrm>
          <a:prstGeom prst="roundRect">
            <a:avLst>
              <a:gd name="adj" fmla="val 6452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9446" y="2468880"/>
            <a:ext cx="271302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Plataforma de tokenización y emisión primaria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(Personalizada con la marca del Emisor)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21070" y="2468880"/>
            <a:ext cx="2895905" cy="1417320"/>
          </a:xfrm>
          <a:prstGeom prst="roundRect">
            <a:avLst>
              <a:gd name="adj" fmla="val 6452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2510" y="2468880"/>
            <a:ext cx="2713025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Plataforma de tokenización y emisión primaria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54135" y="2468880"/>
            <a:ext cx="2895905" cy="2651760"/>
          </a:xfrm>
          <a:prstGeom prst="roundRect">
            <a:avLst>
              <a:gd name="adj" fmla="val 3448"/>
            </a:avLst>
          </a:prstGeom>
          <a:solidFill>
            <a:srgbClr val="241B3D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945575" y="2468880"/>
            <a:ext cx="2713025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Mercado secundario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006" y="4114800"/>
            <a:ext cx="5928970" cy="1005840"/>
          </a:xfrm>
          <a:prstGeom prst="roundRect">
            <a:avLst>
              <a:gd name="adj" fmla="val 9091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9446" y="4114800"/>
            <a:ext cx="574609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ERIR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5E9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(Plataforma regulada de Token City)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2A4D"/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SERVICIO BLOCKCHAIN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99743" y="224028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023" y="224028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0846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3910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16975" y="317754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0846" y="461772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6975" y="4617720"/>
            <a:ext cx="137160" cy="914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3910" y="5120640"/>
            <a:ext cx="9144" cy="22860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Asesoría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definen a medida en función de las necesidades y se proveen por el equipo interno de Token City y sus colaboradores especializados.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32004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Servicios de asesoría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Estructuración del producto financiero y la tokenización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Consultar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Asesoramiento para el cumplimiento normativo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Constitución de vehículos para las emisiones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Elaboración de contratos de emisión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Otros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Cobertura regulatoria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 ser una entidad regulada, Token City puede proveer la cobertura regulatoria necesaria en los casos en los que se requiera.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18288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Servicios regulados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Validación del documento de emisión (ESI) (&lt;12M€)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3.000€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Servicios de inscripción y registro (ERIR)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0,2% min. 3k€/año · max. 25k€/año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428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coste de 3.000€ de la validación (&lt;12M€) se deduce de los costes posteriores de vehiculización y colocación en la emisión primaria.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Infraestructura tecnológica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36576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Servicios tecnológicos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 anual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SetUp plataforma personalizada — Marca Blanca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Desde 5.000€ +10.000€ multi-emisión · +5.000€ web · +5.000€ API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Desarrollo de Smart Contracts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5.000€ por tipo de activo, despliegues ilimitados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Servicio de vehiculización y mantenimiento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 – 0,3% del volumen (mín. 6.000€/año)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de Wallets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1,2€ – 3€ /wallet/año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KYC / KYB / AML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3€ (física) · 25€ (jurídica)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0,2€/pax (monitorización anual)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automatizada de pagos a inversores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0,2% del importe transaccionado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Mercados — Crowdfunding (&lt;5M€)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operaciones &lt; 5M€, las emisiones se canalizan a través de la subsidiaria de crowdfunding, Alius Capital.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32004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Crowdfunding — Alius Capital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Admisión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1.500€ *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Smart Contract y vehiculización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0,5% del volumen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Colocación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1,5% del volumen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Mango Pay (Escrow)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0,5% del volumen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automatizada de pagos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0,2% del importe transaccionado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144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Deducible de los fees de vehiculización y colocación. También se deducirá, en su caso, el coste de 3.000€ de validación del documento de emisión (&lt;8M€).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Mercados — Agencia de Valores (&gt;5M€)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operaciones &gt; 5M€, las emisiones se canalizan a través de Token City European Exchange AV S.A.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27432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Agencia de Valores — TC Exchange (Primario)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Admisión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3.000€ *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Smart Contract y vehiculización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0,1% – 0,3% del volumen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Colocación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1% – 1,5% del volumen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Gestión automatizada de pagos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0,2% del importe transaccionado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572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Deducible de los fees de vehiculización y colocación, incluyendo, en su caso, el coste de 3.000€ de la validación del documento de emisión (&lt;8M€).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Tarifas — Mercados — Secundario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mercado regulado de Token City para negociación secundaria de activos tokenizados se habilitará, previsiblemente, a finales de 2026.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1828800"/>
        </p:xfrm>
        <a:graphic>
          <a:graphicData uri="http://schemas.openxmlformats.org/drawingml/2006/table">
            <a:tbl>
              <a:tblPr/>
              <a:tblGrid>
                <a:gridCol w="5769096"/>
                <a:gridCol w="2662660"/>
                <a:gridCol w="266266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Agencia de Valores — TC Exchange (Secundario)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Fijo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Variable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5B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Admisión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10.000€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Listado y registro (incluye el coste de la ERIR)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0,1% – 0,25% anual de la capitalización (mín. 15k€/año)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Ejemplos de clientes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Inmobiliario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2093976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Plataformas personalizadas, servicio a través de API y servicios regulados para negocios inmobiliarios.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7" name="Image 0" descr="/Users/abelmacmini/Documents/HTMLs/TC-TokenCity-Web/Logos/equali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81415" y="3107817"/>
            <a:ext cx="2486284" cy="57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968496"/>
            <a:ext cx="35518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https://equalice.es/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19930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0" name="Image 1" descr="/Users/abelmacmini/Documents/HTMLs/TC-TokenCity-Web/Logos/equit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52706" y="3107817"/>
            <a:ext cx="2486284" cy="5783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9930" y="3968496"/>
            <a:ext cx="35518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https://www.equito.app/es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8091221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3" name="Image 2" descr="/Users/abelmacmini/Documents/HTMLs/TC-TokenCity-Web/Logos/arcahabitatu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23996" y="3107817"/>
            <a:ext cx="2486284" cy="5783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1221" y="3968496"/>
            <a:ext cx="35518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https://www.arcahabitatum.com/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Ejemplos de clientes</a:t>
            </a:r>
            <a:endParaRPr lang="en-US" sz="2800" dirty="0"/>
          </a:p>
        </p:txBody>
      </p:sp>
      <p:pic>
        <p:nvPicPr>
          <p:cNvPr id="4" name="Image 0" descr="/Users/abelmacmini/Documents/HTMLs/TC-TokenCity-Web/Logos/alius capi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417320"/>
            <a:ext cx="2048256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9008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OTESA Calella Living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7413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 bono hipotecario tokenizado plenamente regulado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383133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aliuscap.com/invest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Ejemplos de clientes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Energía</a:t>
            </a:r>
            <a:endParaRPr lang="en-US" sz="950" dirty="0"/>
          </a:p>
        </p:txBody>
      </p:sp>
      <p:pic>
        <p:nvPicPr>
          <p:cNvPr id="5" name="Image 0" descr="/Users/abelmacmini/Documents/HTMLs/TC-TokenCity-Web/Presentación/assets/logo-exeraV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874520"/>
            <a:ext cx="2048256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44728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exeraenergia.es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390448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Música</a:t>
            </a:r>
            <a:endParaRPr lang="en-US" sz="950" dirty="0"/>
          </a:p>
        </p:txBody>
      </p:sp>
      <p:pic>
        <p:nvPicPr>
          <p:cNvPr id="8" name="Image 1" descr="/Users/abelmacmini/Documents/HTMLs/TC-TokenCity-Web/Presentación/assets/muxic-cr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361688"/>
            <a:ext cx="2048256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593445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themuxic.com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48640" y="639165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Materias primas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Ejemplos de clientes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y la inscripción de activos tokenizados (E.R.I.R.)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2093976"/>
            <a:ext cx="943025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 City provee la infraestructura tecnológica para prestar el servicio de ERIR a instituciones financieras, incluida su propia Agencia de Valores.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7" name="Image 0" descr="/Users/abelmacmini/Documents/HTMLs/TC-TokenCity-Web/Presentación/pptx-export/generated/raster-bestinv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81415" y="3107817"/>
            <a:ext cx="2486284" cy="57835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19930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9" name="Image 1" descr="/Users/abelmacmini/Documents/HTMLs/TC-TokenCity-Web/Presentación/assets/Ursu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52706" y="3107817"/>
            <a:ext cx="2486284" cy="5783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91221" y="2871216"/>
            <a:ext cx="3551834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 w="12700">
            <a:solidFill>
              <a:srgbClr val="2A3140"/>
            </a:solidFill>
            <a:prstDash val="solid"/>
          </a:ln>
        </p:spPr>
      </p:sp>
      <p:pic>
        <p:nvPicPr>
          <p:cNvPr id="11" name="Image 2" descr="/Users/abelmacmini/Documents/HTMLs/TC-TokenCity-Web/Presentación/assets/TOKENCITYEXCHANG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23996" y="3107817"/>
            <a:ext cx="2486284" cy="57835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CITY</a:t>
            </a:r>
            <a:endParaRPr lang="en-US" sz="1100" dirty="0"/>
          </a:p>
        </p:txBody>
      </p:sp>
      <p:pic>
        <p:nvPicPr>
          <p:cNvPr id="3" name="Image 0" descr="/Users/abelmacmini/Documents/HTMLs/TC-TokenCity-Web/Presentación/pptx-export/generated/raster-TOKEN C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640080"/>
            <a:ext cx="2048256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21284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Agile, Secure &amp; Liquid</a:t>
            </a:r>
            <a:endParaRPr lang="en-US" sz="950" dirty="0"/>
          </a:p>
        </p:txBody>
      </p:sp>
      <p:pic>
        <p:nvPicPr>
          <p:cNvPr id="5" name="Image 1" descr="/Users/abelmacmini/Documents/HTMLs/TC-TokenCity-Web/Presentación/assets/yae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2670048"/>
            <a:ext cx="2048256" cy="1463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428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Yael H. Oaknin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48640" y="47000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Chief Executive Officer | CEO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48640" y="51572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yael@token-city.com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48640" y="56144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+34 687 89 20 19</a:t>
            </a:r>
            <a:endParaRPr lang="en-US" sz="950" dirty="0"/>
          </a:p>
        </p:txBody>
      </p:sp>
      <p:pic>
        <p:nvPicPr>
          <p:cNvPr id="10" name="Image 2" descr="/Users/abelmacmini/Documents/HTMLs/TC-TokenCity-Web/Presentación/pptx-export/generated/raster-yael-q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6071616"/>
            <a:ext cx="844906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2026-07-27T11:19:25Z</dcterms:created>
  <dcterms:modified xsi:type="dcterms:W3CDTF">2026-07-27T11:19:25Z</dcterms:modified>
</cp:coreProperties>
</file>